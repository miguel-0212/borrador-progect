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930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47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91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9851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9715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625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0013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3058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8522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1938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6883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35032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073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0221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10230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7842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98610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424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6614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5495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890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707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E50"/>
          </a:solidFill>
          <a:ln w="12700">
            <a:solidFill>
              <a:srgbClr val="162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 Virgen de la Paloma · 2DAM · 2025–2026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de Gestión de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y Gastos Personales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Fin de Ciclo — Python · Kivy · SQLite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David González Bobes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presentación</a:t>
            </a:r>
            <a:endParaRPr lang="en-US" sz="2800" dirty="0"/>
          </a:p>
        </p:txBody>
      </p:sp>
      <p:grpSp>
        <p:nvGrpSpPr>
          <p:cNvPr id="24" name="Grupo 23"/>
          <p:cNvGrpSpPr/>
          <p:nvPr/>
        </p:nvGrpSpPr>
        <p:grpSpPr>
          <a:xfrm>
            <a:off x="365760" y="1097280"/>
            <a:ext cx="4160520" cy="3227832"/>
            <a:chOff x="365760" y="1097280"/>
            <a:chExt cx="4160520" cy="3227832"/>
          </a:xfrm>
        </p:grpSpPr>
        <p:sp>
          <p:nvSpPr>
            <p:cNvPr id="4" name="Shape 2"/>
            <p:cNvSpPr/>
            <p:nvPr/>
          </p:nvSpPr>
          <p:spPr>
            <a:xfrm>
              <a:off x="365760" y="1097280"/>
              <a:ext cx="54864" cy="411480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502920" y="1097280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  Introducción y motivación</a:t>
              </a:r>
              <a:endParaRPr lang="en-US" sz="14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365760" y="1801368"/>
              <a:ext cx="54864" cy="411480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02920" y="1801368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  Análisis de la necesidad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365760" y="2505456"/>
              <a:ext cx="54864" cy="411480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02920" y="2505456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  Objetivos del proyecto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65760" y="3209544"/>
              <a:ext cx="54864" cy="411480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02920" y="3209544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  Tecnologías utilizadas</a:t>
              </a:r>
              <a:endParaRPr lang="en-US" sz="14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65760" y="3913632"/>
              <a:ext cx="54864" cy="411480"/>
            </a:xfrm>
            <a:prstGeom prst="rect">
              <a:avLst/>
            </a:prstGeom>
            <a:solidFill>
              <a:srgbClr val="2E75B6"/>
            </a:solidFill>
            <a:ln w="12700">
              <a:solidFill>
                <a:srgbClr val="2E75B6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02920" y="3913632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05  Arquitectura y diseño</a:t>
              </a:r>
              <a:endParaRPr lang="en-US" sz="1400" dirty="0"/>
            </a:p>
          </p:txBody>
        </p:sp>
      </p:grpSp>
      <p:grpSp>
        <p:nvGrpSpPr>
          <p:cNvPr id="23" name="Grupo 22"/>
          <p:cNvGrpSpPr/>
          <p:nvPr/>
        </p:nvGrpSpPr>
        <p:grpSpPr>
          <a:xfrm>
            <a:off x="4754880" y="1097280"/>
            <a:ext cx="4160520" cy="2523744"/>
            <a:chOff x="4754880" y="1097280"/>
            <a:chExt cx="4160520" cy="2523744"/>
          </a:xfrm>
        </p:grpSpPr>
        <p:sp>
          <p:nvSpPr>
            <p:cNvPr id="14" name="Shape 12"/>
            <p:cNvSpPr/>
            <p:nvPr/>
          </p:nvSpPr>
          <p:spPr>
            <a:xfrm>
              <a:off x="4754880" y="1097280"/>
              <a:ext cx="54864" cy="411480"/>
            </a:xfrm>
            <a:prstGeom prst="rect">
              <a:avLst/>
            </a:prstGeom>
            <a:solidFill>
              <a:srgbClr val="1E8449"/>
            </a:solidFill>
            <a:ln w="12700">
              <a:solidFill>
                <a:srgbClr val="1E8449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4892040" y="1097280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06  Funcionalidades implementadas</a:t>
              </a:r>
              <a:endParaRPr lang="en-US" sz="14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754880" y="1801368"/>
              <a:ext cx="54864" cy="411480"/>
            </a:xfrm>
            <a:prstGeom prst="rect">
              <a:avLst/>
            </a:prstGeom>
            <a:solidFill>
              <a:srgbClr val="1E8449"/>
            </a:solidFill>
            <a:ln w="12700">
              <a:solidFill>
                <a:srgbClr val="1E8449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892040" y="1801368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07  Demostración en vivo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754880" y="2505456"/>
              <a:ext cx="54864" cy="411480"/>
            </a:xfrm>
            <a:prstGeom prst="rect">
              <a:avLst/>
            </a:prstGeom>
            <a:solidFill>
              <a:srgbClr val="1E8449"/>
            </a:solidFill>
            <a:ln w="12700">
              <a:solidFill>
                <a:srgbClr val="1E8449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4892040" y="2505456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08  Pruebas realizadas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754880" y="3209544"/>
              <a:ext cx="54864" cy="411480"/>
            </a:xfrm>
            <a:prstGeom prst="rect">
              <a:avLst/>
            </a:prstGeom>
            <a:solidFill>
              <a:srgbClr val="1E8449"/>
            </a:solidFill>
            <a:ln w="12700">
              <a:solidFill>
                <a:srgbClr val="1E8449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892040" y="3209544"/>
              <a:ext cx="40233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4E7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09  Conclusiones y mejoras futuras</a:t>
              </a:r>
              <a:endParaRPr lang="en-US" sz="140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y motivación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65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649281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Aplicaciones comerciales con publicidad invasiva y suscripciones de pago</a:t>
            </a:r>
            <a:endParaRPr lang="en-US" sz="1500" dirty="0"/>
          </a:p>
        </p:txBody>
      </p:sp>
      <p:grpSp>
        <p:nvGrpSpPr>
          <p:cNvPr id="17" name="Grupo 16"/>
          <p:cNvGrpSpPr/>
          <p:nvPr/>
        </p:nvGrpSpPr>
        <p:grpSpPr>
          <a:xfrm>
            <a:off x="365760" y="2331720"/>
            <a:ext cx="6995739" cy="457200"/>
            <a:chOff x="365760" y="2331720"/>
            <a:chExt cx="6995739" cy="457200"/>
          </a:xfrm>
        </p:grpSpPr>
        <p:sp>
          <p:nvSpPr>
            <p:cNvPr id="8" name="Shape 6"/>
            <p:cNvSpPr/>
            <p:nvPr/>
          </p:nvSpPr>
          <p:spPr>
            <a:xfrm>
              <a:off x="365760" y="2331720"/>
              <a:ext cx="365760" cy="457200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365760" y="2331720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✗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8680" y="2331720"/>
              <a:ext cx="6492819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Dependencia obligatoria de servicios en la nube y riesgos de privacidad</a:t>
              </a:r>
              <a:endParaRPr lang="en-US" sz="1500" dirty="0"/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365760" y="3108960"/>
            <a:ext cx="7146210" cy="457200"/>
            <a:chOff x="365760" y="3108960"/>
            <a:chExt cx="7146210" cy="457200"/>
          </a:xfrm>
        </p:grpSpPr>
        <p:sp>
          <p:nvSpPr>
            <p:cNvPr id="11" name="Shape 9"/>
            <p:cNvSpPr/>
            <p:nvPr/>
          </p:nvSpPr>
          <p:spPr>
            <a:xfrm>
              <a:off x="365760" y="3108960"/>
              <a:ext cx="365760" cy="457200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Text 10"/>
            <p:cNvSpPr/>
            <p:nvPr/>
          </p:nvSpPr>
          <p:spPr>
            <a:xfrm>
              <a:off x="365760" y="3108960"/>
              <a:ext cx="3657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✗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68680" y="3108960"/>
              <a:ext cx="664329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Interfaces complejas con funciones innecesarias para el usuario medio</a:t>
              </a:r>
              <a:endParaRPr lang="en-US" sz="1500" dirty="0"/>
            </a:p>
          </p:txBody>
        </p:sp>
      </p:grpSp>
      <p:sp>
        <p:nvSpPr>
          <p:cNvPr id="14" name="Text 12"/>
          <p:cNvSpPr/>
          <p:nvPr/>
        </p:nvSpPr>
        <p:spPr>
          <a:xfrm>
            <a:off x="36576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propuesta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Aplicación offline, gratuita, sencilla y privada — desarrollada en Python + Kivy + SQLite</a:t>
            </a:r>
            <a:endParaRPr lang="en-US" sz="1600" dirty="0"/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914400" cy="10515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RF1–RF2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ingresos y gastos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A05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31720"/>
            <a:ext cx="914400" cy="105156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3172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2331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categorías personalizadas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566160"/>
            <a:ext cx="914400" cy="1051560"/>
          </a:xfrm>
          <a:prstGeom prst="rect">
            <a:avLst/>
          </a:prstGeom>
          <a:solidFill>
            <a:srgbClr val="0D6E6E"/>
          </a:solidFill>
          <a:ln w="12700">
            <a:solidFill>
              <a:srgbClr val="0D6E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56616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filtrable por mes y tipo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914400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0" y="10972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financiero en tiempo real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331720"/>
            <a:ext cx="914400" cy="10515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33172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233172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estadístico de distribución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3566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66160"/>
            <a:ext cx="914400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566160"/>
            <a:ext cx="914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356616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a PDF</a:t>
            </a:r>
            <a:endParaRPr lang="en-US" sz="140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15544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776A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grpSp>
        <p:nvGrpSpPr>
          <p:cNvPr id="24" name="Grupo 23"/>
          <p:cNvGrpSpPr/>
          <p:nvPr/>
        </p:nvGrpSpPr>
        <p:grpSpPr>
          <a:xfrm>
            <a:off x="274320" y="1097280"/>
            <a:ext cx="1554480" cy="3520440"/>
            <a:chOff x="274320" y="1097280"/>
            <a:chExt cx="1554480" cy="3520440"/>
          </a:xfrm>
        </p:grpSpPr>
        <p:sp>
          <p:nvSpPr>
            <p:cNvPr id="4" name="Shape 2"/>
            <p:cNvSpPr/>
            <p:nvPr/>
          </p:nvSpPr>
          <p:spPr>
            <a:xfrm>
              <a:off x="274320" y="1097280"/>
              <a:ext cx="1554480" cy="502920"/>
            </a:xfrm>
            <a:prstGeom prst="rect">
              <a:avLst/>
            </a:prstGeom>
            <a:solidFill>
              <a:srgbClr val="3776AB"/>
            </a:solidFill>
            <a:ln w="12700">
              <a:solidFill>
                <a:srgbClr val="3776AB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5" name="Text 3"/>
            <p:cNvSpPr/>
            <p:nvPr/>
          </p:nvSpPr>
          <p:spPr>
            <a:xfrm>
              <a:off x="274320" y="1097280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Python 3</a:t>
              </a:r>
              <a:endParaRPr lang="en-US" sz="14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1691640"/>
              <a:ext cx="1371600" cy="2926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Lenguaje base. Sintaxis clara, amplio ecosistema de librerías.</a:t>
              </a:r>
              <a:endParaRPr lang="en-US" sz="1200" dirty="0"/>
            </a:p>
          </p:txBody>
        </p:sp>
        <p:pic>
          <p:nvPicPr>
            <p:cNvPr id="1028" name="Picture 4" descr="File:Python-logo-notext.svg - Wikimedia Common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3184" y="2727001"/>
              <a:ext cx="1154181" cy="1154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upo 24"/>
          <p:cNvGrpSpPr/>
          <p:nvPr/>
        </p:nvGrpSpPr>
        <p:grpSpPr>
          <a:xfrm>
            <a:off x="1993392" y="1097280"/>
            <a:ext cx="1554480" cy="3611880"/>
            <a:chOff x="1993392" y="1097280"/>
            <a:chExt cx="1554480" cy="3611880"/>
          </a:xfrm>
        </p:grpSpPr>
        <p:sp>
          <p:nvSpPr>
            <p:cNvPr id="8" name="Shape 6"/>
            <p:cNvSpPr/>
            <p:nvPr/>
          </p:nvSpPr>
          <p:spPr>
            <a:xfrm>
              <a:off x="1993392" y="1097280"/>
              <a:ext cx="1554480" cy="502920"/>
            </a:xfrm>
            <a:prstGeom prst="rect">
              <a:avLst/>
            </a:prstGeom>
            <a:solidFill>
              <a:srgbClr val="00B0FF"/>
            </a:solidFill>
            <a:ln w="12700">
              <a:solidFill>
                <a:srgbClr val="00B0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1993392" y="1097280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Kivy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1993392" y="1600200"/>
              <a:ext cx="1554480" cy="3108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B0FF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2084832" y="1691640"/>
              <a:ext cx="1371600" cy="2926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Framework GUI multiplataforma. Interfaz móvil sin Android Studio.</a:t>
              </a:r>
              <a:endParaRPr lang="en-US" sz="1200" dirty="0"/>
            </a:p>
          </p:txBody>
        </p:sp>
        <p:pic>
          <p:nvPicPr>
            <p:cNvPr id="1030" name="Picture 6" descr="File:Kivy logo.png - Wikimedia Common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9915" y="2884372"/>
              <a:ext cx="1421434" cy="14214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upo 25"/>
          <p:cNvGrpSpPr/>
          <p:nvPr/>
        </p:nvGrpSpPr>
        <p:grpSpPr>
          <a:xfrm>
            <a:off x="3712464" y="1097280"/>
            <a:ext cx="1554480" cy="3611880"/>
            <a:chOff x="3712464" y="1097280"/>
            <a:chExt cx="1554480" cy="3611880"/>
          </a:xfrm>
        </p:grpSpPr>
        <p:sp>
          <p:nvSpPr>
            <p:cNvPr id="12" name="Shape 10"/>
            <p:cNvSpPr/>
            <p:nvPr/>
          </p:nvSpPr>
          <p:spPr>
            <a:xfrm>
              <a:off x="3712464" y="1097280"/>
              <a:ext cx="1554480" cy="502920"/>
            </a:xfrm>
            <a:prstGeom prst="rect">
              <a:avLst/>
            </a:prstGeom>
            <a:solidFill>
              <a:srgbClr val="003B57"/>
            </a:solidFill>
            <a:ln w="12700">
              <a:solidFill>
                <a:srgbClr val="003B5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3712464" y="1097280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SQLite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712464" y="1600200"/>
              <a:ext cx="1554480" cy="3108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3B57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3803904" y="1691640"/>
              <a:ext cx="1371600" cy="2926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BD relacional local. Sin servidor, archivo único, integrado en Python.</a:t>
              </a:r>
              <a:endParaRPr lang="en-US" sz="1200" dirty="0"/>
            </a:p>
          </p:txBody>
        </p:sp>
        <p:pic>
          <p:nvPicPr>
            <p:cNvPr id="1032" name="Picture 8" descr="Sqlite logo - Icono gratis PNG, SV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76071" y="3229872"/>
              <a:ext cx="1208978" cy="12089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Grupo 26"/>
          <p:cNvGrpSpPr/>
          <p:nvPr/>
        </p:nvGrpSpPr>
        <p:grpSpPr>
          <a:xfrm>
            <a:off x="5431536" y="1097280"/>
            <a:ext cx="1554480" cy="3611880"/>
            <a:chOff x="5431536" y="1097280"/>
            <a:chExt cx="1554480" cy="3611880"/>
          </a:xfrm>
        </p:grpSpPr>
        <p:sp>
          <p:nvSpPr>
            <p:cNvPr id="16" name="Shape 14"/>
            <p:cNvSpPr/>
            <p:nvPr/>
          </p:nvSpPr>
          <p:spPr>
            <a:xfrm>
              <a:off x="5431536" y="1097280"/>
              <a:ext cx="1554480" cy="502920"/>
            </a:xfrm>
            <a:prstGeom prst="rect">
              <a:avLst/>
            </a:prstGeom>
            <a:solidFill>
              <a:srgbClr val="11557C"/>
            </a:solidFill>
            <a:ln w="12700">
              <a:solidFill>
                <a:srgbClr val="11557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5431536" y="1097280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Matplotlib</a:t>
              </a:r>
              <a:endParaRPr lang="en-US" sz="14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31536" y="1600200"/>
              <a:ext cx="1554480" cy="3108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1557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9" name="Text 17"/>
            <p:cNvSpPr/>
            <p:nvPr/>
          </p:nvSpPr>
          <p:spPr>
            <a:xfrm>
              <a:off x="5522976" y="1691640"/>
              <a:ext cx="1371600" cy="2926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Gráficos estadísticos. Gráfico de tarta de gastos por categoría.</a:t>
              </a:r>
              <a:endParaRPr lang="en-US" sz="1200" dirty="0"/>
            </a:p>
          </p:txBody>
        </p:sp>
        <p:pic>
          <p:nvPicPr>
            <p:cNvPr id="1034" name="Picture 10" descr="Archivo:Matplotlib icon.svg - Wikipedia, la enciclopedia libre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72238" y="3144645"/>
              <a:ext cx="1473075" cy="1473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upo 27"/>
          <p:cNvGrpSpPr/>
          <p:nvPr/>
        </p:nvGrpSpPr>
        <p:grpSpPr>
          <a:xfrm>
            <a:off x="7150608" y="1097280"/>
            <a:ext cx="1554480" cy="3611880"/>
            <a:chOff x="7150608" y="1097280"/>
            <a:chExt cx="1554480" cy="3611880"/>
          </a:xfrm>
        </p:grpSpPr>
        <p:sp>
          <p:nvSpPr>
            <p:cNvPr id="20" name="Shape 18"/>
            <p:cNvSpPr/>
            <p:nvPr/>
          </p:nvSpPr>
          <p:spPr>
            <a:xfrm>
              <a:off x="7150608" y="1097280"/>
              <a:ext cx="1554480" cy="502920"/>
            </a:xfrm>
            <a:prstGeom prst="rect">
              <a:avLst/>
            </a:prstGeom>
            <a:solidFill>
              <a:srgbClr val="A31515"/>
            </a:solidFill>
            <a:ln w="12700">
              <a:solidFill>
                <a:srgbClr val="A3151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1" name="Text 19"/>
            <p:cNvSpPr/>
            <p:nvPr/>
          </p:nvSpPr>
          <p:spPr>
            <a:xfrm>
              <a:off x="7150608" y="1097280"/>
              <a:ext cx="15544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ReportLab</a:t>
              </a:r>
              <a:endParaRPr lang="en-US" sz="14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7150608" y="1600200"/>
              <a:ext cx="1554480" cy="3108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A3151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7242048" y="1691640"/>
              <a:ext cx="1371600" cy="2926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Generación de PDF. Tabla de movimientos e informe financiero.</a:t>
              </a:r>
              <a:endParaRPr lang="en-US" sz="1200" dirty="0"/>
            </a:p>
          </p:txBody>
        </p:sp>
        <p:pic>
          <p:nvPicPr>
            <p:cNvPr id="1036" name="Picture 12" descr="ReportLab - Crunchbase Company Profile &amp; Funding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26935" y="3834361"/>
              <a:ext cx="1368425" cy="8290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ransition spd="med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por capas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8229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1097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presentación (UI)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10972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movimiento_form.py / .kv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920240"/>
            <a:ext cx="182880" cy="5486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9659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2286000"/>
            <a:ext cx="6400800" cy="822960"/>
          </a:xfrm>
          <a:prstGeom prst="rect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2286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servicios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categoria / movimiento / resumen / grafico / pdf service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3108960"/>
            <a:ext cx="182880" cy="548640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0" y="3154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3474720"/>
            <a:ext cx="6400800" cy="82296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6304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datos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4747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database/db.py  →  data/finanzas.db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clara de responsabilidades · Código mantenible · Fácil extensión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4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10" grpId="0" animBg="1"/>
      <p:bldP spid="11" grpId="0" animBg="1"/>
      <p:bldP spid="13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508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000" dirty="0"/>
          </a:p>
        </p:txBody>
      </p:sp>
      <p:grpSp>
        <p:nvGrpSpPr>
          <p:cNvPr id="76" name="Grupo 75"/>
          <p:cNvGrpSpPr/>
          <p:nvPr/>
        </p:nvGrpSpPr>
        <p:grpSpPr>
          <a:xfrm>
            <a:off x="182880" y="1051560"/>
            <a:ext cx="2834640" cy="4361952"/>
            <a:chOff x="182880" y="1051560"/>
            <a:chExt cx="2834640" cy="4361952"/>
          </a:xfrm>
        </p:grpSpPr>
        <p:grpSp>
          <p:nvGrpSpPr>
            <p:cNvPr id="75" name="Grupo 74"/>
            <p:cNvGrpSpPr/>
            <p:nvPr/>
          </p:nvGrpSpPr>
          <p:grpSpPr>
            <a:xfrm>
              <a:off x="182880" y="1051560"/>
              <a:ext cx="2834640" cy="3051781"/>
              <a:chOff x="182880" y="1051560"/>
              <a:chExt cx="2834640" cy="3051781"/>
            </a:xfrm>
          </p:grpSpPr>
          <p:sp>
            <p:nvSpPr>
              <p:cNvPr id="4" name="Shape 2"/>
              <p:cNvSpPr/>
              <p:nvPr/>
            </p:nvSpPr>
            <p:spPr>
              <a:xfrm>
                <a:off x="274320" y="1051560"/>
                <a:ext cx="2743200" cy="1127683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2E75B6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5" name="Shape 3"/>
              <p:cNvSpPr/>
              <p:nvPr/>
            </p:nvSpPr>
            <p:spPr>
              <a:xfrm>
                <a:off x="274320" y="1051560"/>
                <a:ext cx="2743200" cy="411480"/>
              </a:xfrm>
              <a:prstGeom prst="rect">
                <a:avLst/>
              </a:prstGeom>
              <a:solidFill>
                <a:srgbClr val="2E75B6"/>
              </a:solidFill>
              <a:ln w="12700">
                <a:solidFill>
                  <a:srgbClr val="2E75B6"/>
                </a:solidFill>
                <a:prstDash val="solid"/>
              </a:ln>
            </p:spPr>
          </p:sp>
          <p:sp>
            <p:nvSpPr>
              <p:cNvPr id="6" name="Text 4"/>
              <p:cNvSpPr/>
              <p:nvPr/>
            </p:nvSpPr>
            <p:spPr>
              <a:xfrm>
                <a:off x="274320" y="1051560"/>
                <a:ext cx="274320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Dashboard financiero</a:t>
                </a:r>
                <a:endParaRPr lang="en-US" sz="1300" dirty="0"/>
              </a:p>
            </p:txBody>
          </p:sp>
          <p:sp>
            <p:nvSpPr>
              <p:cNvPr id="7" name="Text 5"/>
              <p:cNvSpPr/>
              <p:nvPr/>
            </p:nvSpPr>
            <p:spPr>
              <a:xfrm>
                <a:off x="365760" y="1514856"/>
                <a:ext cx="256032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59595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Ingresos · Gastos · Balance en tiempo real</a:t>
                </a:r>
                <a:endParaRPr lang="en-US" sz="1200" dirty="0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365760" y="1514856"/>
                <a:ext cx="256032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b"/>
              <a:lstStyle/>
              <a:p>
                <a:pPr marL="0" indent="0" algn="ctr">
                  <a:buNone/>
                </a:pPr>
                <a:endParaRPr lang="en-US" sz="1000" dirty="0"/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182880" y="2542728"/>
                <a:ext cx="2743200" cy="106374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6A0572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0" name="Shape 8"/>
              <p:cNvSpPr/>
              <p:nvPr/>
            </p:nvSpPr>
            <p:spPr>
              <a:xfrm>
                <a:off x="182880" y="2542728"/>
                <a:ext cx="2743200" cy="411480"/>
              </a:xfrm>
              <a:prstGeom prst="rect">
                <a:avLst/>
              </a:prstGeom>
              <a:solidFill>
                <a:srgbClr val="6A0572"/>
              </a:solidFill>
              <a:ln w="12700">
                <a:solidFill>
                  <a:srgbClr val="6A0572"/>
                </a:solidFill>
                <a:prstDash val="solid"/>
              </a:ln>
            </p:spPr>
          </p:sp>
          <p:sp>
            <p:nvSpPr>
              <p:cNvPr id="11" name="Text 9"/>
              <p:cNvSpPr/>
              <p:nvPr/>
            </p:nvSpPr>
            <p:spPr>
              <a:xfrm>
                <a:off x="182880" y="2542728"/>
                <a:ext cx="274320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Registro de movimientos</a:t>
                </a:r>
                <a:endParaRPr lang="en-US" sz="130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211625" y="3006061"/>
                <a:ext cx="256032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59595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Fecha · Cantidad · </a:t>
                </a:r>
                <a:r>
                  <a:rPr lang="en-US" sz="1200" dirty="0" err="1" smtClean="0">
                    <a:solidFill>
                      <a:srgbClr val="59595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Categoría</a:t>
                </a:r>
                <a:r>
                  <a:rPr lang="en-US" sz="1200" dirty="0" smtClean="0">
                    <a:solidFill>
                      <a:srgbClr val="59595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 </a:t>
                </a:r>
                <a:r>
                  <a:rPr lang="en-US" sz="1200" dirty="0">
                    <a:solidFill>
                      <a:srgbClr val="59595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· Descripción</a:t>
                </a:r>
                <a:endParaRPr lang="en-US" sz="1200" dirty="0"/>
              </a:p>
            </p:txBody>
          </p:sp>
        </p:grpSp>
        <p:grpSp>
          <p:nvGrpSpPr>
            <p:cNvPr id="54" name="Grupo 53"/>
            <p:cNvGrpSpPr/>
            <p:nvPr/>
          </p:nvGrpSpPr>
          <p:grpSpPr>
            <a:xfrm>
              <a:off x="274320" y="3771861"/>
              <a:ext cx="2743200" cy="1641651"/>
              <a:chOff x="6126480" y="1051560"/>
              <a:chExt cx="2743200" cy="148507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126480" y="1051560"/>
                <a:ext cx="2743200" cy="996459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D6E6E"/>
                </a:solidFill>
                <a:prstDash val="solid"/>
              </a:ln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</p:sp>
          <p:sp>
            <p:nvSpPr>
              <p:cNvPr id="15" name="Shape 13"/>
              <p:cNvSpPr/>
              <p:nvPr/>
            </p:nvSpPr>
            <p:spPr>
              <a:xfrm>
                <a:off x="6126480" y="1051560"/>
                <a:ext cx="2743200" cy="385452"/>
              </a:xfrm>
              <a:prstGeom prst="rect">
                <a:avLst/>
              </a:prstGeom>
              <a:solidFill>
                <a:srgbClr val="0D6E6E"/>
              </a:solidFill>
              <a:ln w="12700">
                <a:solidFill>
                  <a:srgbClr val="0D6E6E"/>
                </a:solidFill>
                <a:prstDash val="solid"/>
              </a:ln>
            </p:spPr>
          </p:sp>
          <p:sp>
            <p:nvSpPr>
              <p:cNvPr id="16" name="Text 14"/>
              <p:cNvSpPr/>
              <p:nvPr/>
            </p:nvSpPr>
            <p:spPr>
              <a:xfrm>
                <a:off x="6126480" y="1051560"/>
                <a:ext cx="2743200" cy="385452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Gestión de categorías</a:t>
                </a:r>
                <a:endParaRPr lang="en-US" sz="13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6217920" y="1508761"/>
                <a:ext cx="2560320" cy="380486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</a:pPr>
                <a:r>
                  <a:rPr lang="en-US" sz="1200" dirty="0">
                    <a:solidFill>
                      <a:srgbClr val="59595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Crear · Editar · Eliminar (RF3)</a:t>
                </a:r>
                <a:endParaRPr lang="en-US" sz="12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6217920" y="1508760"/>
                <a:ext cx="2560320" cy="1027872"/>
              </a:xfrm>
              <a:prstGeom prst="rect">
                <a:avLst/>
              </a:prstGeom>
              <a:noFill/>
              <a:ln/>
            </p:spPr>
            <p:txBody>
              <a:bodyPr wrap="square" rtlCol="0" anchor="b"/>
              <a:lstStyle/>
              <a:p>
                <a:pPr marL="0" indent="0" algn="ctr">
                  <a:buNone/>
                </a:pPr>
                <a:endParaRPr lang="en-US" sz="1000" dirty="0"/>
              </a:p>
            </p:txBody>
          </p:sp>
        </p:grpSp>
      </p:grpSp>
      <p:pic>
        <p:nvPicPr>
          <p:cNvPr id="34" name="Imagen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131" y="1038920"/>
            <a:ext cx="5221356" cy="75464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cxnSp>
        <p:nvCxnSpPr>
          <p:cNvPr id="36" name="Conector curvado 35"/>
          <p:cNvCxnSpPr>
            <a:endCxn id="34" idx="1"/>
          </p:cNvCxnSpPr>
          <p:nvPr/>
        </p:nvCxnSpPr>
        <p:spPr>
          <a:xfrm>
            <a:off x="3017520" y="1043837"/>
            <a:ext cx="825611" cy="3724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7" name="Imagen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1776" y="1903833"/>
            <a:ext cx="3964294" cy="1471338"/>
          </a:xfrm>
          <a:prstGeom prst="rect">
            <a:avLst/>
          </a:prstGeom>
          <a:ln>
            <a:solidFill>
              <a:srgbClr val="7030A0"/>
            </a:solidFill>
          </a:ln>
        </p:spPr>
      </p:pic>
      <p:pic>
        <p:nvPicPr>
          <p:cNvPr id="48" name="Imagen 4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131" y="3529923"/>
            <a:ext cx="5119649" cy="1349573"/>
          </a:xfrm>
          <a:prstGeom prst="rect">
            <a:avLst/>
          </a:prstGeom>
          <a:ln>
            <a:solidFill>
              <a:srgbClr val="00B050"/>
            </a:solidFill>
          </a:ln>
        </p:spPr>
      </p:pic>
      <p:cxnSp>
        <p:nvCxnSpPr>
          <p:cNvPr id="63" name="Conector curvado 62"/>
          <p:cNvCxnSpPr>
            <a:stCxn id="10" idx="3"/>
          </p:cNvCxnSpPr>
          <p:nvPr/>
        </p:nvCxnSpPr>
        <p:spPr>
          <a:xfrm flipV="1">
            <a:off x="2926080" y="2209892"/>
            <a:ext cx="1915696" cy="538576"/>
          </a:xfrm>
          <a:prstGeom prst="curved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Conector curvado 66"/>
          <p:cNvCxnSpPr>
            <a:endCxn id="48" idx="1"/>
          </p:cNvCxnSpPr>
          <p:nvPr/>
        </p:nvCxnSpPr>
        <p:spPr>
          <a:xfrm flipV="1">
            <a:off x="3040380" y="4204710"/>
            <a:ext cx="802751" cy="563611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</a:t>
            </a:r>
            <a:endParaRPr lang="en-US" sz="2800" dirty="0"/>
          </a:p>
        </p:txBody>
      </p:sp>
      <p:grpSp>
        <p:nvGrpSpPr>
          <p:cNvPr id="35" name="Grupo 34"/>
          <p:cNvGrpSpPr/>
          <p:nvPr/>
        </p:nvGrpSpPr>
        <p:grpSpPr>
          <a:xfrm>
            <a:off x="258416" y="3703983"/>
            <a:ext cx="2941983" cy="1198824"/>
            <a:chOff x="274320" y="2971800"/>
            <a:chExt cx="2743200" cy="1691640"/>
          </a:xfrm>
        </p:grpSpPr>
        <p:sp>
          <p:nvSpPr>
            <p:cNvPr id="19" name="Shape 17"/>
            <p:cNvSpPr/>
            <p:nvPr/>
          </p:nvSpPr>
          <p:spPr>
            <a:xfrm>
              <a:off x="274320" y="2971800"/>
              <a:ext cx="274320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45309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274320" y="2971800"/>
              <a:ext cx="2743200" cy="411480"/>
            </a:xfrm>
            <a:prstGeom prst="rect">
              <a:avLst/>
            </a:prstGeom>
            <a:solidFill>
              <a:srgbClr val="B45309"/>
            </a:solidFill>
            <a:ln w="12700">
              <a:solidFill>
                <a:srgbClr val="B45309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274320" y="2971800"/>
              <a:ext cx="27432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Filtros avanzados</a:t>
              </a:r>
              <a:endParaRPr lang="en-US" sz="13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365760" y="3429000"/>
              <a:ext cx="2560320" cy="10972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Por mes (YYYY-MM) y por tipo (RF4)</a:t>
              </a:r>
              <a:endParaRPr lang="en-US" sz="12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365760" y="3429000"/>
              <a:ext cx="2560320" cy="1097280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endParaRPr lang="en-US" sz="1000" dirty="0"/>
            </a:p>
          </p:txBody>
        </p:sp>
      </p:grpSp>
      <p:grpSp>
        <p:nvGrpSpPr>
          <p:cNvPr id="37" name="Grupo 36"/>
          <p:cNvGrpSpPr/>
          <p:nvPr/>
        </p:nvGrpSpPr>
        <p:grpSpPr>
          <a:xfrm>
            <a:off x="258416" y="2468889"/>
            <a:ext cx="2743200" cy="997226"/>
            <a:chOff x="3200400" y="2971800"/>
            <a:chExt cx="2743200" cy="1691640"/>
          </a:xfrm>
        </p:grpSpPr>
        <p:sp>
          <p:nvSpPr>
            <p:cNvPr id="24" name="Shape 22"/>
            <p:cNvSpPr/>
            <p:nvPr/>
          </p:nvSpPr>
          <p:spPr>
            <a:xfrm>
              <a:off x="3200400" y="2971800"/>
              <a:ext cx="2743200" cy="1691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E8449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5" name="Shape 23"/>
            <p:cNvSpPr/>
            <p:nvPr/>
          </p:nvSpPr>
          <p:spPr>
            <a:xfrm>
              <a:off x="3200400" y="2971800"/>
              <a:ext cx="2743200" cy="411479"/>
            </a:xfrm>
            <a:prstGeom prst="rect">
              <a:avLst/>
            </a:prstGeom>
            <a:solidFill>
              <a:srgbClr val="1E8449"/>
            </a:solidFill>
            <a:ln w="12700">
              <a:solidFill>
                <a:srgbClr val="1E8449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200400" y="2971800"/>
              <a:ext cx="27432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Gráfico de gastos</a:t>
              </a:r>
              <a:endParaRPr lang="en-US" sz="13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3291840" y="3429000"/>
              <a:ext cx="2560320" cy="10972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Tarta por categoría con Matplotlib (RF6)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3291840" y="3429000"/>
              <a:ext cx="2560320" cy="1097280"/>
            </a:xfrm>
            <a:prstGeom prst="rect">
              <a:avLst/>
            </a:prstGeom>
            <a:noFill/>
            <a:ln/>
          </p:spPr>
          <p:txBody>
            <a:bodyPr wrap="square" rtlCol="0" anchor="b"/>
            <a:lstStyle/>
            <a:p>
              <a:pPr marL="0" indent="0" algn="ctr">
                <a:buNone/>
              </a:pPr>
              <a:endParaRPr lang="en-US" sz="1000" dirty="0"/>
            </a:p>
          </p:txBody>
        </p:sp>
      </p:grpSp>
      <p:sp>
        <p:nvSpPr>
          <p:cNvPr id="29" name="Shape 27"/>
          <p:cNvSpPr/>
          <p:nvPr/>
        </p:nvSpPr>
        <p:spPr>
          <a:xfrm>
            <a:off x="75537" y="963204"/>
            <a:ext cx="2743200" cy="1124013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537" y="963204"/>
            <a:ext cx="2743200" cy="27340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37" y="963204"/>
            <a:ext cx="2743200" cy="273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PDF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6977" y="1420404"/>
            <a:ext cx="2560320" cy="7290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completo con ReportLab (RF7)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6977" y="1420404"/>
            <a:ext cx="2560320" cy="72909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38" name="Imagen 3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27" t="-7129" r="25328" b="7129"/>
          <a:stretch/>
        </p:blipFill>
        <p:spPr>
          <a:xfrm>
            <a:off x="3902765" y="3198124"/>
            <a:ext cx="4544170" cy="1943362"/>
          </a:xfrm>
          <a:prstGeom prst="rect">
            <a:avLst/>
          </a:prstGeom>
          <a:ln>
            <a:solidFill>
              <a:schemeClr val="accent2">
                <a:lumMod val="50000"/>
              </a:schemeClr>
            </a:solidFill>
          </a:ln>
        </p:spPr>
      </p:pic>
      <p:pic>
        <p:nvPicPr>
          <p:cNvPr id="39" name="Imagen 3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34" t="12644" r="35256" b="24546"/>
          <a:stretch/>
        </p:blipFill>
        <p:spPr>
          <a:xfrm>
            <a:off x="3672177" y="1593940"/>
            <a:ext cx="1412854" cy="1551176"/>
          </a:xfrm>
          <a:prstGeom prst="rect">
            <a:avLst/>
          </a:prstGeom>
          <a:ln>
            <a:solidFill>
              <a:srgbClr val="00B050"/>
            </a:solidFill>
          </a:ln>
        </p:spPr>
      </p:pic>
      <p:pic>
        <p:nvPicPr>
          <p:cNvPr id="40" name="Imagen 3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1" t="8604" r="8696" b="15243"/>
          <a:stretch/>
        </p:blipFill>
        <p:spPr>
          <a:xfrm>
            <a:off x="5864087" y="1051560"/>
            <a:ext cx="3279913" cy="1583636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42" name="Conector recto de flecha 41"/>
          <p:cNvCxnSpPr>
            <a:stCxn id="24" idx="3"/>
            <a:endCxn id="39" idx="1"/>
          </p:cNvCxnSpPr>
          <p:nvPr/>
        </p:nvCxnSpPr>
        <p:spPr>
          <a:xfrm flipV="1">
            <a:off x="3001616" y="2369528"/>
            <a:ext cx="670561" cy="5979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 flipV="1">
            <a:off x="2818737" y="1240513"/>
            <a:ext cx="3045350" cy="296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Conector recto de flecha 48"/>
          <p:cNvCxnSpPr>
            <a:stCxn id="21" idx="3"/>
            <a:endCxn id="38" idx="1"/>
          </p:cNvCxnSpPr>
          <p:nvPr/>
        </p:nvCxnSpPr>
        <p:spPr>
          <a:xfrm>
            <a:off x="3200399" y="3849786"/>
            <a:ext cx="702366" cy="3200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464234"/>
      </p:ext>
    </p:extLst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la base de datos</a:t>
            </a:r>
            <a:endParaRPr lang="en-US" sz="2800" dirty="0"/>
          </a:p>
        </p:txBody>
      </p:sp>
      <p:grpSp>
        <p:nvGrpSpPr>
          <p:cNvPr id="27" name="Grupo 26"/>
          <p:cNvGrpSpPr/>
          <p:nvPr/>
        </p:nvGrpSpPr>
        <p:grpSpPr>
          <a:xfrm>
            <a:off x="457200" y="1005840"/>
            <a:ext cx="8229600" cy="2724912"/>
            <a:chOff x="457200" y="1005840"/>
            <a:chExt cx="8229600" cy="2724912"/>
          </a:xfrm>
        </p:grpSpPr>
        <p:sp>
          <p:nvSpPr>
            <p:cNvPr id="4" name="Shape 2"/>
            <p:cNvSpPr/>
            <p:nvPr/>
          </p:nvSpPr>
          <p:spPr>
            <a:xfrm>
              <a:off x="457200" y="1005840"/>
              <a:ext cx="3200400" cy="457200"/>
            </a:xfrm>
            <a:prstGeom prst="rect">
              <a:avLst/>
            </a:prstGeom>
            <a:solidFill>
              <a:srgbClr val="1F4E79"/>
            </a:solidFill>
            <a:ln w="12700">
              <a:solidFill>
                <a:srgbClr val="1F4E79"/>
              </a:solidFill>
              <a:prstDash val="solid"/>
            </a:ln>
          </p:spPr>
        </p:sp>
        <p:sp>
          <p:nvSpPr>
            <p:cNvPr id="5" name="Text 3"/>
            <p:cNvSpPr/>
            <p:nvPr/>
          </p:nvSpPr>
          <p:spPr>
            <a:xfrm>
              <a:off x="457200" y="1005840"/>
              <a:ext cx="3200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categorias</a:t>
              </a:r>
              <a:endParaRPr lang="en-US" sz="16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457200" y="1463040"/>
              <a:ext cx="3200400" cy="438912"/>
            </a:xfrm>
            <a:prstGeom prst="rect">
              <a:avLst/>
            </a:prstGeom>
            <a:solidFill>
              <a:srgbClr val="EEF2F7"/>
            </a:solidFill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48640" y="1481328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4E7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🔑 id_categoria  INTEGER  PK</a:t>
              </a:r>
              <a:endParaRPr lang="en-US" sz="11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" y="1920240"/>
              <a:ext cx="320040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548640" y="1938528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4E7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nombre         TEXT      UNIQUE</a:t>
              </a:r>
              <a:endParaRPr lang="en-US" sz="11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57200" y="2377440"/>
              <a:ext cx="3200400" cy="438912"/>
            </a:xfrm>
            <a:prstGeom prst="rect">
              <a:avLst/>
            </a:prstGeom>
            <a:solidFill>
              <a:srgbClr val="EEF2F7"/>
            </a:solidFill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548640" y="2395728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F4E79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tipo            TEXT      ingreso|gasto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486400" y="1005840"/>
              <a:ext cx="3200400" cy="457200"/>
            </a:xfrm>
            <a:prstGeom prst="rect">
              <a:avLst/>
            </a:prstGeom>
            <a:solidFill>
              <a:srgbClr val="1E5631"/>
            </a:solidFill>
            <a:ln w="12700">
              <a:solidFill>
                <a:srgbClr val="1E5631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486400" y="1005840"/>
              <a:ext cx="32004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movimientos</a:t>
              </a:r>
              <a:endParaRPr lang="en-US" sz="16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5486400" y="1463040"/>
              <a:ext cx="3200400" cy="438912"/>
            </a:xfrm>
            <a:prstGeom prst="rect">
              <a:avLst/>
            </a:prstGeom>
            <a:solidFill>
              <a:srgbClr val="EEF8F2"/>
            </a:solidFill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5577840" y="1481328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563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🔑 id_movimiento  INTEGER  PK</a:t>
              </a:r>
              <a:endParaRPr lang="en-US" sz="11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5486400" y="1920240"/>
              <a:ext cx="320040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577840" y="1938528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563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fecha              TEXT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86400" y="2377440"/>
              <a:ext cx="3200400" cy="438912"/>
            </a:xfrm>
            <a:prstGeom prst="rect">
              <a:avLst/>
            </a:prstGeom>
            <a:solidFill>
              <a:srgbClr val="EEF8F2"/>
            </a:solidFill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577840" y="2395728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563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cantidad          REAL  &gt;= 0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486400" y="2834640"/>
              <a:ext cx="3200400" cy="4389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5577840" y="2852928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563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descripcion     TEXT</a:t>
              </a:r>
              <a:endParaRPr lang="en-US" sz="11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486400" y="3291840"/>
              <a:ext cx="3200400" cy="438912"/>
            </a:xfrm>
            <a:prstGeom prst="rect">
              <a:avLst/>
            </a:prstGeom>
            <a:solidFill>
              <a:srgbClr val="EEF8F2"/>
            </a:solidFill>
            <a:ln w="12700">
              <a:solidFill>
                <a:srgbClr val="CCCCCC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577840" y="3310128"/>
              <a:ext cx="301752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1E5631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🔗 id_categoria    INTEGER  FK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3657600" y="2377440"/>
              <a:ext cx="1828800" cy="0"/>
            </a:xfrm>
            <a:prstGeom prst="line">
              <a:avLst/>
            </a:prstGeom>
            <a:noFill/>
            <a:ln w="25400">
              <a:solidFill>
                <a:srgbClr val="595959"/>
              </a:solidFill>
              <a:prstDash val="dash"/>
            </a:ln>
          </p:spPr>
        </p:sp>
        <p:sp>
          <p:nvSpPr>
            <p:cNvPr id="25" name="Text 23"/>
            <p:cNvSpPr/>
            <p:nvPr/>
          </p:nvSpPr>
          <p:spPr>
            <a:xfrm>
              <a:off x="3657600" y="19202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59595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 ——— N</a:t>
              </a:r>
              <a:endParaRPr lang="en-US" sz="140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DELETE RESTRICT  ·  ON UPDATE CASCADE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funcionales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5603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0" y="1005840"/>
            <a:ext cx="34747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1005840"/>
            <a:ext cx="25603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válido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0241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+ cantidad + categoría correctas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02412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50876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50876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270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categoría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5270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Spinner en valor por defecto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15270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controlado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25603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2011680"/>
            <a:ext cx="34747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2011680"/>
            <a:ext cx="25603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0299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 incorrecta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20299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incorrecto (dd-mm-yyyy)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0299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controlado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51460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4640" y="251460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251460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53288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por mes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25328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Mes: 2025-05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53288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filtrada OK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017520"/>
            <a:ext cx="25603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34640" y="3017520"/>
            <a:ext cx="34747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017520"/>
            <a:ext cx="25603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035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movimiento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926080" y="30358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Pulsar botón Eliminar en tarjeta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035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35204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352044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52044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3872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 duplicada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926080" y="353872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ya existente en BD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353872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controlado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023360"/>
            <a:ext cx="25603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834640" y="4023360"/>
            <a:ext cx="34747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023360"/>
            <a:ext cx="2560320" cy="438912"/>
          </a:xfrm>
          <a:prstGeom prst="rect">
            <a:avLst/>
          </a:prstGeom>
          <a:solidFill>
            <a:srgbClr val="EEF2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416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sin datos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926080" y="404164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vacía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00800" y="404164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generado OK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74320" y="452628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834640" y="452628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4526280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5445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Gráfico sin gastos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926080" y="454456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movimientos de ingreso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454456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informativo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37" grpId="0" animBg="1"/>
      <p:bldP spid="38" grpId="0" animBg="1"/>
      <p:bldP spid="39" grpId="0" animBg="1"/>
      <p:bldP spid="43" grpId="0" animBg="1"/>
      <p:bldP spid="44" grpId="0" animBg="1"/>
      <p:bldP spid="45" grpId="0" animBg="1"/>
      <p:bldP spid="49" grpId="0" animBg="1"/>
      <p:bldP spid="50" grpId="0" animBg="1"/>
      <p:bldP spid="5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trabajo futuro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alcanzados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023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3560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Todos los RF implementados y funcionales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4023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8424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Arquitectura limpia y mantenible por capas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023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3288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Interfaz intuitiva sin conocimientos técnicos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4023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8152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56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Aplicación 100% offline y privada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mejora futuras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417320"/>
            <a:ext cx="402336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3560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Exportar a APK de Android con Buildozer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965960"/>
            <a:ext cx="402336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98424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Gráficos de evolución mensual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402336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3288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Múltiples perfiles de usuario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063240"/>
            <a:ext cx="402336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08152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Exportación a CSV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023360" cy="502920"/>
          </a:xfrm>
          <a:prstGeom prst="rect">
            <a:avLst/>
          </a:prstGeom>
          <a:solidFill>
            <a:srgbClr val="EEF2F7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630168"/>
            <a:ext cx="384048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Sincronización opcional en la nube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E50"/>
          </a:solidFill>
          <a:ln w="12700">
            <a:solidFill>
              <a:srgbClr val="162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 por su atención!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21945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 de preguntas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926080"/>
            <a:ext cx="5486400" cy="1188720"/>
          </a:xfrm>
          <a:prstGeom prst="rect">
            <a:avLst/>
          </a:prstGeom>
          <a:solidFill>
            <a:srgbClr val="162E5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9260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David González Bobes
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IES Virgen de la Paloma · 2DAM · 2025–2026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DD7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Kivy · SQLite · Matplotlib · ReportLab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152</TotalTime>
  <Words>561</Words>
  <Application>Microsoft Office PowerPoint</Application>
  <PresentationFormat>Presentación en pantalla (16:9)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Consolas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de Gestión de Ingresos y Gastos — TFG 2DAM</dc:title>
  <dc:subject>PptxGenJS Presentation</dc:subject>
  <dc:creator>Miguel David González Bobes</dc:creator>
  <cp:lastModifiedBy>Miguel David Gonzalez Bobes</cp:lastModifiedBy>
  <cp:revision>8</cp:revision>
  <dcterms:created xsi:type="dcterms:W3CDTF">2026-05-21T10:23:37Z</dcterms:created>
  <dcterms:modified xsi:type="dcterms:W3CDTF">2026-05-21T14:36:39Z</dcterms:modified>
</cp:coreProperties>
</file>